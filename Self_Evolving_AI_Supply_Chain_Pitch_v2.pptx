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85800"/>
            <a:ext cx="4389120" cy="384048"/>
          </a:xfrm>
          <a:prstGeom prst="roundRect">
            <a:avLst/>
          </a:prstGeom>
          <a:solidFill>
            <a:srgbClr val="0E1C36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0F2FE"/>
                </a:solidFill>
              </a:defRPr>
            </a:pPr>
            <a:r>
              <a:t>⚡ ENTERPRISE AI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0F4FC"/>
                </a:solidFill>
              </a:defRPr>
            </a:pPr>
            <a:r>
              <a:t>Self-Evolving AI</a:t>
            </a:r>
            <a:br/>
            <a:r>
              <a:t>Supply Chain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Smart Real-Time Logistics Tracking, Early Disruption Alerts &amp; Safe Human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834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CORE PRODUCTION STACK:</a:t>
            </a:r>
          </a:p>
          <a:p>
            <a:pPr>
              <a:defRPr sz="1100">
                <a:solidFill>
                  <a:srgbClr val="F0F4FC"/>
                </a:solidFill>
              </a:defRPr>
            </a:pPr>
            <a:r>
              <a:t>• LangGraph Multi-Agent Team  • ClickHouse Fast Anomaly Detection</a:t>
            </a:r>
            <a:br/>
            <a:r>
              <a:t>• Neo4j Deep Supplier Graph    • Apache Kafka Live Streaming</a:t>
            </a:r>
            <a:br/>
            <a:r>
              <a:t>• NeMo Safety &amp; Spend Rules    • Arize Phoenix Tracing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685800"/>
            <a:ext cx="5303520" cy="54864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731520"/>
            <a:ext cx="52120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0F4FC"/>
                </a:solidFill>
              </a:defRPr>
            </a:pPr>
            <a:r>
              <a:t>THE PROBLEM: The Hidden Supplier Blindspot &amp; Cost Spikes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120640" cy="23317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3366"/>
                </a:solidFill>
              </a:defRPr>
            </a:pPr>
            <a:r>
              <a:t>1. The Hidden Supplier Blindspot</a:t>
            </a:r>
          </a:p>
          <a:p>
            <a:pPr>
              <a:defRPr sz="1150">
                <a:solidFill>
                  <a:srgbClr val="F0F4FC"/>
                </a:solidFill>
              </a:defRPr>
            </a:pPr>
            <a:r>
              <a:t>• Most companies only know their direct suppliers (Tier-1).</a:t>
            </a:r>
            <a:br/>
            <a:r>
              <a:t>• They have zero visibility into deeper suppliers (Tier-2 parts &amp; Tier-3 raw materials).</a:t>
            </a:r>
            <a:br/>
            <a:r>
              <a:t>• When a deep raw-material supplier shuts down, companies find out weeks too late—only after factory assembly lines freeze.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120640" cy="22402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9B208"/>
                </a:solidFill>
              </a:defRPr>
            </a:pPr>
            <a:r>
              <a:t>2. Sudden Delays &amp; Runaway Costs</a:t>
            </a:r>
          </a:p>
          <a:p>
            <a:pPr>
              <a:defRPr sz="1150">
                <a:solidFill>
                  <a:srgbClr val="F0F4FC"/>
                </a:solidFill>
              </a:defRPr>
            </a:pPr>
            <a:r>
              <a:t>• Chokepoints (like Suez or Panama Canal) cause sudden +300% shipping delays.</a:t>
            </a:r>
            <a:br/>
            <a:r>
              <a:t>• Spot freight rates jump +75% within 48 hours during geopolitical disruptions.</a:t>
            </a:r>
            <a:br/>
            <a:r>
              <a:t>• Late port fees cost companies over $8,500 per day for each delayed shipment.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212080" cy="47548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F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ier_n_grap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63040"/>
            <a:ext cx="512064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0F4FC"/>
                </a:solidFill>
              </a:defRPr>
            </a:pPr>
            <a:r>
              <a:t>THE SAFETY CHALLENGE: Why Raw AI Cannot Run Supply Chains Alone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120640" cy="23317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3366"/>
                </a:solidFill>
              </a:defRPr>
            </a:pPr>
            <a:r>
              <a:t>1. The AI Mistake &amp; Risk Trap</a:t>
            </a:r>
          </a:p>
          <a:p>
            <a:pPr>
              <a:defRPr sz="1150">
                <a:solidFill>
                  <a:srgbClr val="F0F4FC"/>
                </a:solidFill>
              </a:defRPr>
            </a:pPr>
            <a:r>
              <a:t>• Standard AI models make guesses and can hallucinate false information.</a:t>
            </a:r>
            <a:br/>
            <a:r>
              <a:t>• Giving AI direct purchasing power could result in approving 200% price markups or booking unverified vendors.</a:t>
            </a:r>
            <a:br/>
            <a:r>
              <a:t>• International trade rules and embargoes require strict, guaranteed checks—not probabilistic guesses.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120640" cy="22402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F5A0"/>
                </a:solidFill>
              </a:defRPr>
            </a:pPr>
            <a:r>
              <a:t>2. Guaranteed Safety with NeMo Guardrails</a:t>
            </a:r>
          </a:p>
          <a:p>
            <a:pPr>
              <a:defRPr sz="1150">
                <a:solidFill>
                  <a:srgbClr val="F0F4FC"/>
                </a:solidFill>
              </a:defRPr>
            </a:pPr>
            <a:r>
              <a:t>• Hard Spending Limit: Maximum $50,000 without human approval.</a:t>
            </a:r>
            <a:br/>
            <a:r>
              <a:t>• Price Spike Protection: Rejects markups higher than 15%.</a:t>
            </a:r>
            <a:br/>
            <a:r>
              <a:t>• Sanctions Filter: Instantly freezes orders from restricted regions.</a:t>
            </a:r>
            <a:br/>
            <a:r>
              <a:t>• High-Risk Control: Mandates executive sign-off on critical contracts.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212080" cy="47548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F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uardrails_shiel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63040"/>
            <a:ext cx="512064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0F4FC"/>
                </a:solidFill>
              </a:defRPr>
            </a:pPr>
            <a:r>
              <a:t>HOW IT WORKS: 5-Pillar Enterprise Autonomous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2011680" cy="39319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F2FE"/>
                </a:solidFill>
              </a:defRPr>
            </a:pPr>
            <a:r>
              <a:t>01</a:t>
            </a:r>
          </a:p>
          <a:p>
            <a:pPr>
              <a:defRPr sz="1300" b="1">
                <a:solidFill>
                  <a:srgbClr val="F0F4FC"/>
                </a:solidFill>
              </a:defRPr>
            </a:pPr>
            <a:r>
              <a:t>Kafka / Redpanda</a:t>
            </a:r>
            <a:br/>
            <a:r>
              <a:t>Live Event Stream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Sub-second data updates</a:t>
            </a:r>
            <a:br/>
            <a:r>
              <a:t>• GPS container pings</a:t>
            </a:r>
            <a:br/>
            <a:r>
              <a:t>• Live shipping rate alerts</a:t>
            </a:r>
            <a:br/>
            <a:r>
              <a:t>• Geopolitical news feed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07792" y="1508760"/>
            <a:ext cx="2011680" cy="39319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38BDF8"/>
                </a:solidFill>
              </a:defRPr>
            </a:pPr>
            <a:r>
              <a:t>02</a:t>
            </a:r>
          </a:p>
          <a:p>
            <a:pPr>
              <a:defRPr sz="1300" b="1">
                <a:solidFill>
                  <a:srgbClr val="F0F4FC"/>
                </a:solidFill>
              </a:defRPr>
            </a:pPr>
            <a:r>
              <a:t>ClickHouse &amp; Neo4j</a:t>
            </a:r>
            <a:br/>
            <a:r>
              <a:t>Fast &amp; Graph Memory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ClickHouse: Catches sudden</a:t>
            </a:r>
            <a:br/>
            <a:r>
              <a:t>  price and delay surges</a:t>
            </a:r>
            <a:br/>
            <a:r>
              <a:t>• Neo4j: Maps entire deep</a:t>
            </a:r>
            <a:br/>
            <a:r>
              <a:t>  supplier network links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84064" y="1508760"/>
            <a:ext cx="2011680" cy="39319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A855F7"/>
                </a:solidFill>
              </a:defRPr>
            </a:pPr>
            <a:r>
              <a:t>03</a:t>
            </a:r>
          </a:p>
          <a:p>
            <a:pPr>
              <a:defRPr sz="1300" b="1">
                <a:solidFill>
                  <a:srgbClr val="F0F4FC"/>
                </a:solidFill>
              </a:defRPr>
            </a:pPr>
            <a:r>
              <a:t>LangGraph Network</a:t>
            </a:r>
            <a:br/>
            <a:r>
              <a:t>Smart AI Team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Market Watch Agent</a:t>
            </a:r>
            <a:br/>
            <a:r>
              <a:t>• Supply Chain Graph Agent</a:t>
            </a:r>
            <a:br/>
            <a:r>
              <a:t>• Deal &amp; Contract Agent</a:t>
            </a:r>
            <a:br/>
            <a:r>
              <a:t>• Dependable multi-step runs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0336" y="1508760"/>
            <a:ext cx="2011680" cy="39319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9B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9B208"/>
                </a:solidFill>
              </a:defRPr>
            </a:pPr>
            <a:r>
              <a:t>04</a:t>
            </a:r>
          </a:p>
          <a:p>
            <a:pPr>
              <a:defRPr sz="1300" b="1">
                <a:solidFill>
                  <a:srgbClr val="F0F4FC"/>
                </a:solidFill>
              </a:defRPr>
            </a:pPr>
            <a:r>
              <a:t>NeMo Guardrails</a:t>
            </a:r>
            <a:br/>
            <a:r>
              <a:t>Safety &amp; Human Sign-Off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$50,000 spend ceiling</a:t>
            </a:r>
            <a:br/>
            <a:r>
              <a:t>• 15% rate markup limit</a:t>
            </a:r>
            <a:br/>
            <a:r>
              <a:t>• Blocked region filter</a:t>
            </a:r>
            <a:br/>
            <a:r>
              <a:t>• Pauses for manager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36608" y="1508760"/>
            <a:ext cx="2011680" cy="39319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F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F5A0"/>
                </a:solidFill>
              </a:defRPr>
            </a:pPr>
            <a:r>
              <a:t>05</a:t>
            </a:r>
          </a:p>
          <a:p>
            <a:pPr>
              <a:defRPr sz="1300" b="1">
                <a:solidFill>
                  <a:srgbClr val="F0F4FC"/>
                </a:solidFill>
              </a:defRPr>
            </a:pPr>
            <a:r>
              <a:t>Meta-Learning</a:t>
            </a:r>
            <a:br/>
            <a:r>
              <a:t>Self-Evolution Loop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Scores every decision</a:t>
            </a:r>
            <a:br/>
            <a:r>
              <a:t>• Self-tunes strategy rules</a:t>
            </a:r>
            <a:br/>
            <a:r>
              <a:t>• Stores lessons learned</a:t>
            </a:r>
            <a:br/>
            <a:r>
              <a:t>• Gets smarter each cycle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623560"/>
            <a:ext cx="10698480" cy="640080"/>
          </a:xfrm>
          <a:prstGeom prst="roundRect">
            <a:avLst/>
          </a:prstGeom>
          <a:solidFill>
            <a:srgbClr val="0E1930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F2FE"/>
                </a:solidFill>
              </a:defRPr>
            </a:pPr>
            <a:r>
              <a:t>🚀 Smart AI + Strict Safety Guardrails: Agents solve complex logistics while strict mathematical rules prevent mistakes.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0F4FC"/>
                </a:solidFill>
              </a:defRPr>
            </a:pPr>
            <a:r>
              <a:t>WORKFLOW IN ACTION: From Disruption to Human Approval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120640" cy="47548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F2FE"/>
                </a:solidFill>
              </a:defRPr>
            </a:pPr>
            <a:r>
              <a:t>• 1. Live Threat Detected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Kafka receives delay ping; ClickHouse catches a +75% shipping rate surge.</a:t>
            </a:r>
            <a:br/>
          </a:p>
          <a:p>
            <a:pPr>
              <a:defRPr sz="1300" b="1">
                <a:solidFill>
                  <a:srgbClr val="FF3366"/>
                </a:solidFill>
              </a:defRPr>
            </a:pPr>
            <a:r>
              <a:t>• 2. Impact Mapped Instantly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Neo4j traces deep supplier connections; flags $14.7M in factory risk.</a:t>
            </a:r>
            <a:br/>
          </a:p>
          <a:p>
            <a:pPr>
              <a:defRPr sz="1300" b="1">
                <a:solidFill>
                  <a:srgbClr val="38BDF8"/>
                </a:solidFill>
              </a:defRPr>
            </a:pPr>
            <a:r>
              <a:t>• 3. Smart Rerouting Created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Contract Agent designs an alternate route via Saigon (saving 12 days).</a:t>
            </a:r>
            <a:br/>
          </a:p>
          <a:p>
            <a:pPr>
              <a:defRPr sz="1300" b="1">
                <a:solidFill>
                  <a:srgbClr val="F9B208"/>
                </a:solidFill>
              </a:defRPr>
            </a:pPr>
            <a:r>
              <a:t>• 4. Safety Gate Triggered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Order exceeds the $50k spend limit; LangGraph safely pauses for approval.</a:t>
            </a:r>
            <a:br/>
          </a:p>
          <a:p>
            <a:pPr>
              <a:defRPr sz="1300" b="1">
                <a:solidFill>
                  <a:srgbClr val="00F5A0"/>
                </a:solidFill>
              </a:defRPr>
            </a:pPr>
            <a:r>
              <a:t>• 5. Manager Approves &amp; Executes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Supervisor clicks 'Authorize'; system immediately places the order.</a:t>
            </a:r>
            <a:br/>
          </a:p>
        </p:txBody>
      </p:sp>
      <p:sp>
        <p:nvSpPr>
          <p:cNvPr id="5" name="Rounded Rectangle 4"/>
          <p:cNvSpPr/>
          <p:nvPr/>
        </p:nvSpPr>
        <p:spPr>
          <a:xfrm>
            <a:off x="6217920" y="1417320"/>
            <a:ext cx="5212080" cy="47548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F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orchestration_hu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63040"/>
            <a:ext cx="512064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0F4FC"/>
                </a:solidFill>
              </a:defRPr>
            </a:pPr>
            <a:r>
              <a:t>CONTINUOUS LEARNING: How the AI Network Improves Over 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120640" cy="47548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2FE"/>
                </a:solidFill>
              </a:defRPr>
            </a:pPr>
            <a:r>
              <a:t>1. Clear Performance Score (Reward Function)</a:t>
            </a:r>
          </a:p>
          <a:p>
            <a:pPr>
              <a:defRPr sz="1100">
                <a:solidFill>
                  <a:srgbClr val="F0F4FC"/>
                </a:solidFill>
              </a:defRPr>
            </a:pPr>
            <a:r>
              <a:t>Score = (0.6 × Risk Reduced) + (3.5 × Days Saved) - Cost Penalty</a:t>
            </a:r>
            <a:br/>
            <a:r>
              <a:t>Evaluates every resolved incident against real delivery results.</a:t>
            </a:r>
          </a:p>
          <a:p>
            <a:br/>
            <a:pPr>
              <a:defRPr sz="1400" b="1">
                <a:solidFill>
                  <a:srgbClr val="00F5A0"/>
                </a:solidFill>
              </a:defRPr>
            </a:pPr>
            <a:r>
              <a:t>2. Adaptive Strategy Memory (evolution_memory.json)</a:t>
            </a:r>
          </a:p>
          <a:p>
            <a:pPr>
              <a:defRPr sz="1100">
                <a:solidFill>
                  <a:srgbClr val="F0F4FC"/>
                </a:solidFill>
              </a:defRPr>
            </a:pPr>
            <a:r>
              <a:t>• Supplier Trust Weight: Automatically increases for reliable suppliers.</a:t>
            </a:r>
            <a:br/>
            <a:r>
              <a:t>• Shipping Speed Weight: Gives higher priority to speed during port blockades.</a:t>
            </a:r>
            <a:br/>
            <a:r>
              <a:t>• Risk Threshold: Adjusts sensitivity based on supervisor decisions.</a:t>
            </a:r>
          </a:p>
          <a:p>
            <a:br/>
            <a:pPr>
              <a:defRPr sz="1400" b="1">
                <a:solidFill>
                  <a:srgbClr val="F9B208"/>
                </a:solidFill>
              </a:defRPr>
            </a:pPr>
            <a:r>
              <a:t>3. Lessons Learned (Episodic Memory)</a:t>
            </a:r>
          </a:p>
          <a:p>
            <a:pPr>
              <a:defRPr sz="1100">
                <a:solidFill>
                  <a:srgbClr val="F0F4FC"/>
                </a:solidFill>
              </a:defRPr>
            </a:pPr>
            <a:r>
              <a:t>Stores key insights (e.g. 'Always maintain backup suppliers for microcontrollers') and feeds them into future AI planning cycles.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17320"/>
            <a:ext cx="5212080" cy="47548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F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lf_evolu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63040"/>
            <a:ext cx="512064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0F4FC"/>
                </a:solidFill>
              </a:defRPr>
            </a:pPr>
            <a:r>
              <a:t>BUSINESS VALUE: Proven ROI, Key Advantages &amp; Future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291840" cy="14630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F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MONEY SAVED</a:t>
            </a:r>
          </a:p>
          <a:p>
            <a:pPr>
              <a:defRPr sz="2800" b="1">
                <a:solidFill>
                  <a:srgbClr val="00F5A0"/>
                </a:solidFill>
              </a:defRPr>
            </a:pPr>
            <a:r>
              <a:t>$142,500+</a:t>
            </a:r>
          </a:p>
          <a:p>
            <a:pPr>
              <a:defRPr sz="1000">
                <a:solidFill>
                  <a:srgbClr val="F0F4FC"/>
                </a:solidFill>
              </a:defRPr>
            </a:pPr>
            <a:r>
              <a:t>Saved per disruption by avoiding late port fees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17320"/>
            <a:ext cx="3291840" cy="14630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TIME SAVED</a:t>
            </a:r>
          </a:p>
          <a:p>
            <a:pPr>
              <a:defRPr sz="2800" b="1">
                <a:solidFill>
                  <a:srgbClr val="00F2FE"/>
                </a:solidFill>
              </a:defRPr>
            </a:pPr>
            <a:r>
              <a:t>12 Days Faster</a:t>
            </a:r>
          </a:p>
          <a:p>
            <a:pPr>
              <a:defRPr sz="1000">
                <a:solidFill>
                  <a:srgbClr val="F0F4FC"/>
                </a:solidFill>
              </a:defRPr>
            </a:pPr>
            <a:r>
              <a:t>Smart rerouting around congested bottleneck 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17320"/>
            <a:ext cx="3383280" cy="14630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9B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SAFETY &amp; CONTROL</a:t>
            </a:r>
          </a:p>
          <a:p>
            <a:pPr>
              <a:defRPr sz="2800" b="1">
                <a:solidFill>
                  <a:srgbClr val="F9B208"/>
                </a:solidFill>
              </a:defRPr>
            </a:pPr>
            <a:r>
              <a:t>100% Compliant</a:t>
            </a:r>
          </a:p>
          <a:p>
            <a:pPr>
              <a:defRPr sz="1000">
                <a:solidFill>
                  <a:srgbClr val="F0F4FC"/>
                </a:solidFill>
              </a:defRPr>
            </a:pPr>
            <a:r>
              <a:t>Zero unapproved orders above the $50k spend limit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6217920" cy="31089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Why Our System Wins vs Existing Tools</a:t>
            </a:r>
          </a:p>
          <a:p>
            <a:pPr>
              <a:defRPr sz="1150">
                <a:solidFill>
                  <a:srgbClr val="F0F4FC"/>
                </a:solidFill>
              </a:defRPr>
            </a:pPr>
            <a:r>
              <a:t>• Traditional ERP (SAP/Oracle): Slow batch schedules, static data, and reactive phone calls.</a:t>
            </a:r>
          </a:p>
          <a:p>
            <a:pPr>
              <a:defRPr sz="1150">
                <a:solidFill>
                  <a:srgbClr val="F0F4FC"/>
                </a:solidFill>
              </a:defRPr>
            </a:pPr>
            <a:r>
              <a:t>• Generic AI Chatbots: Make guesses, risk huge financial mistakes, and have no long-term memory.</a:t>
            </a:r>
          </a:p>
          <a:p>
            <a:pPr>
              <a:defRPr sz="1150">
                <a:solidFill>
                  <a:srgbClr val="F0F4FC"/>
                </a:solidFill>
              </a:defRPr>
            </a:pPr>
            <a:r>
              <a:t>• Our Self-Evolving Network: Live data streaming, deep supplier relationship mapping, strict safety rules, and continuous learning.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3154680"/>
            <a:ext cx="4114800" cy="31089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Enterprise Production Roadmap</a:t>
            </a:r>
          </a:p>
          <a:p>
            <a:pPr>
              <a:defRPr sz="1150">
                <a:solidFill>
                  <a:srgbClr val="F0F4FC"/>
                </a:solidFill>
              </a:defRPr>
            </a:pPr>
            <a:r>
              <a:t>• 1. Air Freight &amp; Multi-Modal Rail Dispatch</a:t>
            </a:r>
          </a:p>
          <a:p>
            <a:pPr>
              <a:defRPr sz="1150">
                <a:solidFill>
                  <a:srgbClr val="F0F4FC"/>
                </a:solidFill>
              </a:defRPr>
            </a:pPr>
            <a:r>
              <a:t>• 2. Global Compliance &amp; Cross-Border Privacy</a:t>
            </a:r>
          </a:p>
          <a:p>
            <a:pPr>
              <a:defRPr sz="1150">
                <a:solidFill>
                  <a:srgbClr val="F0F4FC"/>
                </a:solidFill>
              </a:defRPr>
            </a:pPr>
            <a:r>
              <a:t>• 3. Live SAP &amp; Oracle ERP System Sync</a:t>
            </a:r>
          </a:p>
          <a:p>
            <a:pPr>
              <a:defRPr sz="1150">
                <a:solidFill>
                  <a:srgbClr val="F0F4FC"/>
                </a:solidFill>
              </a:defRPr>
            </a:pPr>
            <a:r>
              <a:t>• 4. Multi-Company AI Negotiation Network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