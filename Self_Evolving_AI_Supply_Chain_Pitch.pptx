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0" cy="411480"/>
          </a:xfrm>
          <a:prstGeom prst="roundRect">
            <a:avLst/>
          </a:prstGeom>
          <a:solidFill>
            <a:srgbClr val="0E1C3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2FE"/>
                </a:solidFill>
              </a:defRPr>
            </a:pPr>
            <a:r>
              <a:t>⚡ HACKATHON ENTERPRISE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4FC"/>
                </a:solidFill>
              </a:defRPr>
            </a:pPr>
            <a:r>
              <a:t>Self-Evolving AI</a:t>
            </a:r>
            <a:br/>
            <a:r>
              <a:t>Supply Chain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Autonomous Global Logistics Orchestration, Real-Time Market Shift Forecasting &amp; Human-in-the-Loop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ARCHITECTURE STACK:</a:t>
            </a:r>
          </a:p>
          <a:p>
            <a:pPr>
              <a:defRPr sz="1100">
                <a:solidFill>
                  <a:srgbClr val="F0F4FC"/>
                </a:solidFill>
              </a:defRPr>
            </a:pPr>
            <a:r>
              <a:t>• LangGraph Durable Workflows  • ClickHouse Time-Series OLAP</a:t>
            </a:r>
            <a:br/>
            <a:r>
              <a:t>• Neo4j Tier-N Knowledge Graph  • Apache Kafka / Redpanda</a:t>
            </a:r>
            <a:br/>
            <a:r>
              <a:t>• NeMo Guardrails Policy Bounds • Arize Phoenix Tracing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731520"/>
            <a:ext cx="5303520" cy="53949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777240"/>
            <a:ext cx="52120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4FC"/>
                </a:solidFill>
              </a:defRPr>
            </a:pPr>
            <a:r>
              <a:t>THE PROBLEM: The $50B Fragility Crisis in Global Supply Chains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3366"/>
                </a:solidFill>
              </a:defRPr>
            </a:pPr>
            <a:r>
              <a:t>1. The 'Tier-N' Visibility Blindspot</a:t>
            </a:r>
          </a:p>
          <a:p>
            <a:pPr>
              <a:defRPr sz="1200">
                <a:solidFill>
                  <a:srgbClr val="F0F4FC"/>
                </a:solidFill>
              </a:defRPr>
            </a:pPr>
            <a:r>
              <a:t>• OEMs only know their Tier-1 direct integrators.</a:t>
            </a:r>
            <a:br/>
            <a:r>
              <a:t>• Zero visibility into Tier-2 sub-assemblies or Tier-3 raw chemical foundries.</a:t>
            </a:r>
            <a:br/>
            <a:r>
              <a:t>• A silent disruption at Tier 3 halts OEM assembly lines weeks later, costing over $8,500/day per delayed container.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9B208"/>
                </a:solidFill>
              </a:defRPr>
            </a:pPr>
            <a:r>
              <a:t>2. Unbounded LLM Financial Risk</a:t>
            </a:r>
          </a:p>
          <a:p>
            <a:pPr>
              <a:defRPr sz="1200">
                <a:solidFill>
                  <a:srgbClr val="F0F4FC"/>
                </a:solidFill>
              </a:defRPr>
            </a:pPr>
            <a:r>
              <a:t>• Raw LLMs hallucinate and cannot be given root access to enterprise capital.</a:t>
            </a:r>
            <a:br/>
            <a:r>
              <a:t>• Unconstrained agents risk accepting 200% price premiums or contracting sanctioned suppliers.</a:t>
            </a:r>
            <a:br/>
            <a:r>
              <a:t>• Enterprisewide adoption demands deterministic guardrails with Human-in-the-Loop fallbacks.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ier_n_gra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1206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4FC"/>
                </a:solidFill>
              </a:defRPr>
            </a:pPr>
            <a:r>
              <a:t>THE SOLUTION: 5-Pillar Enterprise Autonomous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011680" cy="38404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F2FE"/>
                </a:solidFill>
              </a:defRPr>
            </a:pPr>
            <a:r>
              <a:t>01</a:t>
            </a:r>
          </a:p>
          <a:p>
            <a:pPr>
              <a:defRPr sz="1300" b="1">
                <a:solidFill>
                  <a:srgbClr val="F0F4FC"/>
                </a:solidFill>
              </a:defRPr>
            </a:pPr>
            <a:r>
              <a:t>Kafka / Redpanda</a:t>
            </a:r>
            <a:br/>
            <a:r>
              <a:t>Live Event Streaming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Sub-second pub/sub</a:t>
            </a:r>
            <a:br/>
            <a:r>
              <a:t>• IoT GPS container pings</a:t>
            </a:r>
            <a:br/>
            <a:r>
              <a:t>• Baltic spot rate surges</a:t>
            </a:r>
            <a:br/>
            <a:r>
              <a:t>• Geopolitical alerts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554480"/>
            <a:ext cx="2011680" cy="38404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defRPr sz="1300" b="1">
                <a:solidFill>
                  <a:srgbClr val="F0F4FC"/>
                </a:solidFill>
              </a:defRPr>
            </a:pPr>
            <a:r>
              <a:t>Dual OLAP &amp; Graph</a:t>
            </a:r>
            <a:br/>
            <a:r>
              <a:t>Storage Engine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ClickHouse: Time-series</a:t>
            </a:r>
            <a:br/>
            <a:r>
              <a:t>  z-score anomaly detection</a:t>
            </a:r>
            <a:br/>
            <a:r>
              <a:t>• Neo4j: Multi-tier graph</a:t>
            </a:r>
            <a:br/>
            <a:r>
              <a:t>  SPOF blast radius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554480"/>
            <a:ext cx="2011680" cy="38404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A855F7"/>
                </a:solidFill>
              </a:defRPr>
            </a:pPr>
            <a:r>
              <a:t>03</a:t>
            </a:r>
          </a:p>
          <a:p>
            <a:pPr>
              <a:defRPr sz="1300" b="1">
                <a:solidFill>
                  <a:srgbClr val="F0F4FC"/>
                </a:solidFill>
              </a:defRPr>
            </a:pPr>
            <a:r>
              <a:t>LangGraph Durable</a:t>
            </a:r>
            <a:br/>
            <a:r>
              <a:t>Multi-Agent Network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StateGraph orchestration</a:t>
            </a:r>
            <a:br/>
            <a:r>
              <a:t>• Market Intelligence Agent</a:t>
            </a:r>
            <a:br/>
            <a:r>
              <a:t>• Graph Traversal Agent</a:t>
            </a:r>
            <a:br/>
            <a:r>
              <a:t>• Contract Negotiator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554480"/>
            <a:ext cx="2011680" cy="38404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9B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9B208"/>
                </a:solidFill>
              </a:defRPr>
            </a:pPr>
            <a:r>
              <a:t>04</a:t>
            </a:r>
          </a:p>
          <a:p>
            <a:pPr>
              <a:defRPr sz="1300" b="1">
                <a:solidFill>
                  <a:srgbClr val="F0F4FC"/>
                </a:solidFill>
              </a:defRPr>
            </a:pPr>
            <a:r>
              <a:t>NeMo Guardrails &amp;</a:t>
            </a:r>
            <a:br/>
            <a:r>
              <a:t>HITL Checkpoint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$50k spend limit ceiling</a:t>
            </a:r>
            <a:br/>
            <a:r>
              <a:t>• 15% rate markup ceiling</a:t>
            </a:r>
            <a:br/>
            <a:r>
              <a:t>• Sanctions embargo filter</a:t>
            </a:r>
            <a:br/>
            <a:r>
              <a:t>• MemorySaver interruption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554480"/>
            <a:ext cx="2011680" cy="38404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F5A0"/>
                </a:solidFill>
              </a:defRPr>
            </a:pPr>
            <a:r>
              <a:t>05</a:t>
            </a:r>
          </a:p>
          <a:p>
            <a:pPr>
              <a:defRPr sz="1300" b="1">
                <a:solidFill>
                  <a:srgbClr val="F0F4FC"/>
                </a:solidFill>
              </a:defRPr>
            </a:pPr>
            <a:r>
              <a:t>Meta-Learning</a:t>
            </a:r>
            <a:br/>
            <a:r>
              <a:t>Self-Evolution Loop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Objective reward function</a:t>
            </a:r>
            <a:br/>
            <a:r>
              <a:t>• Heuristics self-tuning</a:t>
            </a:r>
            <a:br/>
            <a:r>
              <a:t>• Episodic memory log</a:t>
            </a:r>
            <a:br/>
            <a:r>
              <a:t>• Generation advancement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68580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F2FE"/>
                </a:solidFill>
              </a:defRPr>
            </a:pPr>
            <a:r>
              <a:t>🚀 Enterprise Differentiator: Hybrid Deterministic &amp; LLM Architecture — The AI reasons and plans, but deterministic mathematical policy bounds enforce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4FC"/>
                </a:solidFill>
              </a:defRPr>
            </a:pPr>
            <a:r>
              <a:t>LIVE SCENARIO: Red Sea Chokepoint to Autonomous Resolution in 2.8s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• 1. Stream Anomaly Trigger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Kafka ingests maritime threat alert + ClickHouse flags +75% Suez spot rate surge.</a:t>
            </a:r>
            <a:br/>
          </a:p>
          <a:p>
            <a:pPr>
              <a:defRPr sz="1300" b="1">
                <a:solidFill>
                  <a:srgbClr val="FF3366"/>
                </a:solidFill>
              </a:defRPr>
            </a:pPr>
            <a:r>
              <a:t>• 2. Blast Radius Calculated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Neo4j traverses Tier-1 Shenzhen Mechatronics &amp; Tier-2 Penang; flags $14.7M in OEM line risk.</a:t>
            </a:r>
            <a:br/>
          </a:p>
          <a:p>
            <a:pPr>
              <a:defRPr sz="1300" b="1">
                <a:solidFill>
                  <a:srgbClr val="38BDF8"/>
                </a:solidFill>
              </a:defRPr>
            </a:pPr>
            <a:r>
              <a:t>• 3. Proposal Synthesized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Contract Negotiator synthesizes alternative bypass via Saigon Advanced Assembly, saving 12 days.</a:t>
            </a:r>
            <a:br/>
          </a:p>
          <a:p>
            <a:pPr>
              <a:defRPr sz="1300" b="1">
                <a:solidFill>
                  <a:srgbClr val="F9B208"/>
                </a:solidFill>
              </a:defRPr>
            </a:pPr>
            <a:r>
              <a:t>• 4. NeMo Guardrail Interruption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Contract exceeds $50k limit; LangGraph halts state at Human-in-the-Loop breakpoint.</a:t>
            </a:r>
            <a:br/>
          </a:p>
          <a:p>
            <a:pPr>
              <a:defRPr sz="1300" b="1">
                <a:solidFill>
                  <a:srgbClr val="00F5A0"/>
                </a:solidFill>
              </a:defRPr>
            </a:pPr>
            <a:r>
              <a:t>• 5. Executive Sign-Off &amp; Evolution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Supervisor approves; execution committed; Self-Evolution advances Gen 1 -&gt; Gen 2 with +68.8 reward.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chestration_hu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1206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0F4FC"/>
                </a:solidFill>
              </a:defRPr>
            </a:pPr>
            <a:r>
              <a:t>BUSINESS IMPACT: Quantifiable ROI &amp; Enterprise Competitive Moat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SAVINGS MITIGATED</a:t>
            </a:r>
          </a:p>
          <a:p>
            <a:pPr>
              <a:defRPr sz="2800" b="1">
                <a:solidFill>
                  <a:srgbClr val="00F5A0"/>
                </a:solidFill>
              </a:defRPr>
            </a:pPr>
            <a:r>
              <a:t>$142,500+</a:t>
            </a:r>
          </a:p>
          <a:p>
            <a:pPr>
              <a:defRPr sz="1000">
                <a:solidFill>
                  <a:srgbClr val="F0F4FC"/>
                </a:solidFill>
              </a:defRPr>
            </a:pPr>
            <a:r>
              <a:t>Per disruption event by avoiding dock detention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CYCLE TIME REDUCTION</a:t>
            </a:r>
          </a:p>
          <a:p>
            <a:pPr>
              <a:defRPr sz="2800" b="1">
                <a:solidFill>
                  <a:srgbClr val="00F2FE"/>
                </a:solidFill>
              </a:defRPr>
            </a:pPr>
            <a:r>
              <a:t>12 Days Saved</a:t>
            </a:r>
          </a:p>
          <a:p>
            <a:pPr>
              <a:defRPr sz="1000">
                <a:solidFill>
                  <a:srgbClr val="F0F4FC"/>
                </a:solidFill>
              </a:defRPr>
            </a:pPr>
            <a:r>
              <a:t>Multimodal rerouting vs waiting at chokepoint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9B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GOVERNANCE &amp; SAFETY</a:t>
            </a:r>
          </a:p>
          <a:p>
            <a:pPr>
              <a:defRPr sz="2800" b="1">
                <a:solidFill>
                  <a:srgbClr val="F9B208"/>
                </a:solidFill>
              </a:defRPr>
            </a:pPr>
            <a:r>
              <a:t>100% Policy Bound</a:t>
            </a:r>
          </a:p>
          <a:p>
            <a:pPr>
              <a:defRPr sz="1000">
                <a:solidFill>
                  <a:srgbClr val="F0F4FC"/>
                </a:solidFill>
              </a:defRPr>
            </a:pPr>
            <a:r>
              <a:t>Zero unapproved contracts over $50k spend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6217920" cy="31089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Competitive Moat vs Existing Solutions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Traditional ERP (SAP/Oracle): Batch processed, static schedules, reactive phone calls.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Generic LLM Agents: Hallucinate supplier terms, unbounded financial liability, zero persistence.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Our Autonomous Network: Real-time Kafka streaming, ClickHouse OLAP z-scores, Neo4j multi-tier blast radius, NeMo Guardrails, and true self-evolving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200400"/>
            <a:ext cx="4114800" cy="31089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Production Scaling Roadmap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1. Air Freight &amp; Intermodal Rail Spot Dispatch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2. Sovereign Cross-Border Pipelines (ITAR/GDPR)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3. Live SAP S/4HANA &amp; Oracle ERP Webhook Sync</a:t>
            </a:r>
          </a:p>
          <a:p>
            <a:pPr>
              <a:defRPr sz="1150">
                <a:solidFill>
                  <a:srgbClr val="F0F4FC"/>
                </a:solidFill>
              </a:defRPr>
            </a:pPr>
            <a:r>
              <a:t>• 4. Federated Multi-Enterprise Agent Negotiation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